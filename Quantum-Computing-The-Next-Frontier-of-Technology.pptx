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Geist" panose="020B0604020202020204" charset="0"/>
      <p:regular r:id="rId14"/>
    </p:embeddedFont>
    <p:embeddedFont>
      <p:font typeface="Geist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05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177455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Quantum Computing: The Next Frontier of Technology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9054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theory to transformation — understanding the science, the hardware, and the breakthroughs reshaping our world.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854535"/>
            <a:ext cx="1318783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911190"/>
            <a:ext cx="17015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INTRODUCTION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1804"/>
            <a:ext cx="1384662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78458"/>
            <a:ext cx="17674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CONCEPT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8454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From Bits to Qubits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3239"/>
            <a:ext cx="6903269" cy="391189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2251" y="2094905"/>
            <a:ext cx="3504219" cy="1416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48255" y="2309316"/>
            <a:ext cx="29738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Classical Bit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348255" y="2805410"/>
            <a:ext cx="297380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Like a light switch — either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One state at a time.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700165"/>
            <a:ext cx="3504219" cy="16619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8255" y="3914577"/>
            <a:ext cx="297380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Quantum Qubit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8255" y="4410670"/>
            <a:ext cx="2973809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Like a spinning coin — simultaneously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or a blend of both. This is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superposition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032251" y="5574705"/>
            <a:ext cx="350421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Qubits unlock exponential computing power by exploring many states at once.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134"/>
            <a:ext cx="843636" cy="175022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529" y="563662"/>
            <a:ext cx="1315112" cy="105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CONCEPT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2135"/>
            <a:ext cx="10868745" cy="37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50" b="1" kern="0" spc="-4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Magic: Superposition &amp; Entanglement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90538"/>
            <a:ext cx="4959325" cy="49594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08130" y="3101280"/>
            <a:ext cx="562834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Superposition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08130" y="3358555"/>
            <a:ext cx="6237925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Qubits explore </a:t>
            </a: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multiple solutions at once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enabling massive parallel computation.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08130" y="3549154"/>
            <a:ext cx="5628340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Entanglement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08130" y="3806428"/>
            <a:ext cx="5628340" cy="24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Measuring one qubit </a:t>
            </a:r>
            <a:r>
              <a:rPr lang="en-US" sz="9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instantly influences its partner</a:t>
            </a:r>
            <a:r>
              <a:rPr lang="en-US" sz="9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even across vast distances. Einstein called it "spooky action at a distance."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08130" y="4126210"/>
            <a:ext cx="5628340" cy="304205"/>
          </a:xfrm>
          <a:prstGeom prst="roundRect">
            <a:avLst>
              <a:gd name="adj" fmla="val 15903"/>
            </a:avLst>
          </a:prstGeom>
          <a:solidFill>
            <a:srgbClr val="002A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221" y="4225131"/>
            <a:ext cx="143963" cy="1150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2275" y="4218087"/>
            <a:ext cx="5748690" cy="120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Together, these properties give quantum computers their extraordinary power.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1558528"/>
            <a:ext cx="837286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4879" y="1615182"/>
            <a:ext cx="12200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HISTORY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921272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Seed Idea: Richard Feynman (1982)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944936" y="3645892"/>
            <a:ext cx="601339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"Nature isn't classical, dammit. If you want to make a simulation of nature, you'd better make it quantum mechanical."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433266"/>
            <a:ext cx="25399" cy="916583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4562475"/>
            <a:ext cx="629686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Feynman argued that simulating the physical world requires a computer built from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quantum components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not classical bits. This insight launched the entire field of quantum computing.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184"/>
            <a:ext cx="837286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69838"/>
            <a:ext cx="12200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HISTORY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592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Breakthroughs: Shor &amp; Grover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86285"/>
            <a:ext cx="5203794" cy="37458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32776" y="2186285"/>
            <a:ext cx="2507394" cy="2386211"/>
          </a:xfrm>
          <a:prstGeom prst="roundRect">
            <a:avLst>
              <a:gd name="adj" fmla="val 33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0832" y="2394347"/>
            <a:ext cx="209128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1994 — Peter Shor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540832" y="2890441"/>
            <a:ext cx="2091280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Proved quantum computers can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factor large numbers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exponentially faster, threatening RSA encryption.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029176" y="2186285"/>
            <a:ext cx="2507394" cy="2386211"/>
          </a:xfrm>
          <a:prstGeom prst="roundRect">
            <a:avLst>
              <a:gd name="adj" fmla="val 332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7233" y="2394347"/>
            <a:ext cx="209128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1996 — Lov Grover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237233" y="2890441"/>
            <a:ext cx="2091280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 a quantum method to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search unsorted databases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quadratically faster than any classical approach.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93143"/>
            <a:ext cx="1050204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549797"/>
            <a:ext cx="143298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HARDWARE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5588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Hardware Reality: The Four Big Bets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53618"/>
            <a:ext cx="1473163" cy="9104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900289"/>
            <a:ext cx="253993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Superconducting Circuits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4627860"/>
            <a:ext cx="25399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gates, but requires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near-absolute-zero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temperatures.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753618"/>
            <a:ext cx="1473163" cy="9104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7645" y="3900289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Trapped Ions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437645" y="4320778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 stability and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long coherence times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ideal for precision.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753618"/>
            <a:ext cx="1473163" cy="9104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3915" y="3900289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Photonic Systems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213915" y="4320778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Operates at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room temperature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great for quantum networking.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753618"/>
            <a:ext cx="1473163" cy="91043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184" y="3900289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Neutral Atoms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8990184" y="4320778"/>
            <a:ext cx="254003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Scalable arrays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enabling complex logic operations.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0027"/>
            <a:ext cx="961108" cy="251420"/>
          </a:xfrm>
          <a:prstGeom prst="roundRect">
            <a:avLst>
              <a:gd name="adj" fmla="val 22103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579636"/>
            <a:ext cx="137226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39291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Achilles Heel: Decoherence &amp; Noise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6470"/>
            <a:ext cx="5232666" cy="37665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3904" y="1738412"/>
            <a:ext cx="5232666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Qubits Are Fragile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3904" y="2151856"/>
            <a:ext cx="5232666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Qubits interact with their environment — heat, vibration, electromagnetic fields — causing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decoherence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the loss of quantum information.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5831880"/>
            <a:ext cx="248041" cy="248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8830" y="5848449"/>
            <a:ext cx="296497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Environmental noise introduces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errors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691" y="5831880"/>
            <a:ext cx="248041" cy="248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82036" y="5848449"/>
            <a:ext cx="296497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Fidelity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decays rapidly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 time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9896" y="5831880"/>
            <a:ext cx="248041" cy="248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65241" y="5848449"/>
            <a:ext cx="296497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Below threshold → computation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fails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080"/>
            <a:ext cx="946523" cy="282674"/>
          </a:xfrm>
          <a:prstGeom prst="roundRect">
            <a:avLst>
              <a:gd name="adj" fmla="val 22117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093" y="629841"/>
            <a:ext cx="1332871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29977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Solution: Quantum Error Correction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809353"/>
            <a:ext cx="6383575" cy="3788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47124" y="4713181"/>
            <a:ext cx="1586812" cy="31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Correct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307" y="4713181"/>
            <a:ext cx="1586812" cy="31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14884" y="4713181"/>
            <a:ext cx="1586812" cy="31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Encode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04098"/>
            <a:ext cx="1086874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encoding one reliable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logical qubit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across many noisy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physical qubits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we can detect and correct errors without destroying quantum information. Once we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cross the fault-tolerance threshold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scaling up adds reliability — not just complexity.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73073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06935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MILESTONES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Era: 2024–2025 Breakthroughs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13135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582491"/>
            <a:ext cx="531908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7487" y="3783310"/>
            <a:ext cx="5319083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the first time,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logical qubits outperform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their physical components — a critical step toward practical quantum computing.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61475" y="6538516"/>
            <a:ext cx="3591430" cy="475655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279" y="6639322"/>
            <a:ext cx="338982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Google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2279" y="6821190"/>
            <a:ext cx="338982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Reduced error rates below threshold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300132" y="6538516"/>
            <a:ext cx="3591430" cy="475655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00936" y="6639322"/>
            <a:ext cx="338982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Quantinuum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00936" y="6821190"/>
            <a:ext cx="338982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Demonstrated reliable logical gates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7938790" y="6538516"/>
            <a:ext cx="3591430" cy="475655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39593" y="6639322"/>
            <a:ext cx="338982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QuEra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39593" y="6821190"/>
            <a:ext cx="3389823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Neutral-atom error suppression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595412"/>
            <a:ext cx="1413534" cy="273645"/>
          </a:xfrm>
          <a:prstGeom prst="roundRect">
            <a:avLst>
              <a:gd name="adj" fmla="val 22121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9521" y="649387"/>
            <a:ext cx="180702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ROAD AHEAD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37716"/>
            <a:ext cx="6296860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Future: What Comes Next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80877"/>
            <a:ext cx="360254" cy="360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6334" y="1837134"/>
            <a:ext cx="5722001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Drug Discovery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236334" y="2232918"/>
            <a:ext cx="5722001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Simulate molecular interactions to accelerate pharmaceutical breakthroughs.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33713"/>
            <a:ext cx="360254" cy="3602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6334" y="3089970"/>
            <a:ext cx="5722001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Material Science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236334" y="3485753"/>
            <a:ext cx="5722001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new materials — superconductors, batteries, catalysts — atom by atom.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86548"/>
            <a:ext cx="360254" cy="3602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6334" y="4342805"/>
            <a:ext cx="5722001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Optimization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236334" y="4738588"/>
            <a:ext cx="5722001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Solve logistics, finance, and supply chain problems at unprecedented scale.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61475" y="5389166"/>
            <a:ext cx="6296860" cy="873423"/>
          </a:xfrm>
          <a:prstGeom prst="roundRect">
            <a:avLst>
              <a:gd name="adj" fmla="val 8663"/>
            </a:avLst>
          </a:prstGeom>
          <a:solidFill>
            <a:srgbClr val="002A8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552" y="5606852"/>
            <a:ext cx="225122" cy="1800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6752" y="5605760"/>
            <a:ext cx="5531505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next decade moves quantum computing from </a:t>
            </a:r>
            <a:r>
              <a:rPr lang="en-US" sz="14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experimental hardware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</a:t>
            </a:r>
            <a:r>
              <a:rPr lang="en-US" sz="14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industry-changing solutions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9FDA2-CCBC-ECA5-6B2D-FEFDF3AD2C2D}"/>
              </a:ext>
            </a:extLst>
          </p:cNvPr>
          <p:cNvSpPr txBox="1"/>
          <p:nvPr/>
        </p:nvSpPr>
        <p:spPr>
          <a:xfrm>
            <a:off x="4079422" y="1239183"/>
            <a:ext cx="4499688" cy="1293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sz="3700" b="1" kern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 </a:t>
            </a:r>
            <a:endParaRPr lang="en-US" sz="37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marL="0" indent="0" algn="l">
              <a:lnSpc>
                <a:spcPct val="108000"/>
              </a:lnSpc>
              <a:buNone/>
            </a:pPr>
            <a:endParaRPr lang="en-US" sz="37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97045-C311-8232-1615-F41420904074}"/>
              </a:ext>
            </a:extLst>
          </p:cNvPr>
          <p:cNvSpPr txBox="1"/>
          <p:nvPr/>
        </p:nvSpPr>
        <p:spPr>
          <a:xfrm>
            <a:off x="757724" y="3864937"/>
            <a:ext cx="6097554" cy="564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theory to transformation — understanding the science, the hardware, and the breakthroughs reshaping our world.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02DBC-E8FC-CCF0-0A2F-D639A89F63E6}"/>
              </a:ext>
            </a:extLst>
          </p:cNvPr>
          <p:cNvSpPr txBox="1"/>
          <p:nvPr/>
        </p:nvSpPr>
        <p:spPr>
          <a:xfrm>
            <a:off x="757724" y="2713104"/>
            <a:ext cx="7061329" cy="100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Quantum Computing: The Next Frontier of Technology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3194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542</Words>
  <Application>Microsoft Office PowerPoint</Application>
  <PresentationFormat>Widescreen</PresentationFormat>
  <Paragraphs>82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Geist</vt:lpstr>
      <vt:lpstr>Geist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SWAMY</dc:creator>
  <cp:lastModifiedBy>Rohita Sellappan</cp:lastModifiedBy>
  <cp:revision>2</cp:revision>
  <dcterms:created xsi:type="dcterms:W3CDTF">2026-09-17T10:57:37Z</dcterms:created>
  <dcterms:modified xsi:type="dcterms:W3CDTF">2026-09-22T17:26:29Z</dcterms:modified>
</cp:coreProperties>
</file>